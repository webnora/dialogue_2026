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What Vector Representations Reveal</a:t>
            </a:r>
          </a:p>
          <a:p>
            <a:r>
              <a:t>About Publicistic Writing:</a:t>
            </a:r>
          </a:p>
          <a:p>
            <a:r>
              <a:t>Learning from Mistakes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Dialogue 2026</a:t>
            </a:r>
          </a:p>
          <a:p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What do classification errors reveal about genre boundaries?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Hypotheses:</a:t>
            </a:r>
          </a:p>
          <a:p>
            <a:pPr>
              <a:defRPr sz="1800"/>
            </a:pPr>
            <a:r>
              <a:t>• H1: Contextual models (BERT) outperform lexical (TF-IDF)</a:t>
            </a:r>
          </a:p>
          <a:p>
            <a:pPr>
              <a:defRPr sz="1800"/>
            </a:pPr>
            <a:r>
              <a:t>• H2: Genre boundaries are gradient, not discrete</a:t>
            </a:r>
          </a:p>
          <a:p>
            <a:pPr>
              <a:defRPr sz="1800"/>
            </a:pPr>
            <a:r>
              <a:t>• H3: Lexical choice is the primary genre marker</a:t>
            </a:r>
          </a:p>
          <a:p>
            <a:pPr>
              <a:defRPr sz="1800"/>
            </a:pPr>
            <a:r>
              <a:t>• H4: Syntactic features are less informative than lexical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Three Levels of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Three classification models at different linguistic levels: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1. TF-IDF + Logistic Regression (Lexical level)</a:t>
            </a:r>
          </a:p>
          <a:p>
            <a:pPr>
              <a:defRPr sz="1800"/>
            </a:pPr>
            <a:r>
              <a:t>2. Linguistic Features + Random Forest (Discourse-grammatical)</a:t>
            </a:r>
          </a:p>
          <a:p>
            <a:pPr>
              <a:defRPr sz="1800"/>
            </a:pPr>
            <a:r>
              <a:t>3. BERT fine-tuning (Contextual-semantic)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Dataset: 50,000 articles from The Guardian (5 genres)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Source: The Guardian API</a:t>
            </a:r>
          </a:p>
          <a:p>
            <a:pPr>
              <a:defRPr sz="1800"/>
            </a:pPr>
            <a:r>
              <a:t>Total: 50,000 articles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Five genres:</a:t>
            </a:r>
          </a:p>
          <a:p>
            <a:pPr>
              <a:defRPr sz="1800"/>
            </a:pPr>
            <a:r>
              <a:t>• Analytical (political analysis, commentary)</a:t>
            </a:r>
          </a:p>
          <a:p>
            <a:pPr>
              <a:defRPr sz="1800"/>
            </a:pPr>
            <a:r>
              <a:t>• Editorial (opinion pieces)</a:t>
            </a:r>
          </a:p>
          <a:p>
            <a:pPr>
              <a:defRPr sz="1800"/>
            </a:pPr>
            <a:r>
              <a:t>• Feature (long-form narratives)</a:t>
            </a:r>
          </a:p>
          <a:p>
            <a:pPr>
              <a:defRPr sz="1800"/>
            </a:pPr>
            <a:r>
              <a:t>• News (factual reporting)</a:t>
            </a:r>
          </a:p>
          <a:p>
            <a:pPr>
              <a:defRPr sz="1800"/>
            </a:pPr>
            <a:r>
              <a:t>• Review (cultural criticism)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Baseline Model Performance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Macro F1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87.64%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0.8771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TF-IDF +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Lexical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86.58%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0.8647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Linguistic + 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Syntactic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0.6449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 1: Lexical Primacy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BERT improves over TF-IDF by only 1.06%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Implications:</a:t>
            </a:r>
          </a:p>
          <a:p>
            <a:pPr>
              <a:defRPr sz="1800"/>
            </a:pPr>
            <a:r>
              <a:t>• ~99% of genre signal is in word choice</a:t>
            </a:r>
          </a:p>
          <a:p>
            <a:pPr>
              <a:defRPr sz="1800"/>
            </a:pPr>
            <a:r>
              <a:t>• Context adds minimal value for genre classification</a:t>
            </a:r>
          </a:p>
          <a:p>
            <a:pPr>
              <a:defRPr sz="1800"/>
            </a:pPr>
            <a:r>
              <a:t>• Practical: TF-IDF is sufficient for production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This challenges the assumption that deep contextual</a:t>
            </a:r>
          </a:p>
          <a:p>
            <a:pPr>
              <a:defRPr sz="1800"/>
            </a:pPr>
            <a:r>
              <a:t>representations are necessary for genre classification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 2: Syntactic Features Underperform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Linguistic features: 65% accuracy (vs 86%+ for lexical)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Top features by importance:</a:t>
            </a:r>
          </a:p>
          <a:p>
            <a:pPr>
              <a:defRPr sz="1800"/>
            </a:pPr>
            <a:r>
              <a:t>1. Reporting verbs ratio (0.20)</a:t>
            </a:r>
          </a:p>
          <a:p>
            <a:pPr>
              <a:defRPr sz="1800"/>
            </a:pPr>
            <a:r>
              <a:t>2. Type-token ratio (0.19)</a:t>
            </a:r>
          </a:p>
          <a:p>
            <a:pPr>
              <a:defRPr sz="1800"/>
            </a:pPr>
            <a:r>
              <a:t>3. First person pronouns (0.14)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Problem: Severe overfitting (87% train → 65% test)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Statistical Validation: McNemar's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Research question: Are model differences statistically significant?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McNemar's test (paired comparison):</a:t>
            </a:r>
          </a:p>
          <a:p>
            <a:pPr>
              <a:defRPr sz="1800"/>
            </a:pPr>
            <a:r>
              <a:t>• BERT vs TF-IDF: χ² = 156.01, p &lt; 0.001 ***</a:t>
            </a:r>
          </a:p>
          <a:p>
            <a:pPr>
              <a:defRPr sz="1800"/>
            </a:pPr>
            <a:r>
              <a:t>• BERT vs Linguistic: χ² = 258.34, p &lt; 0.001 ***</a:t>
            </a:r>
          </a:p>
          <a:p>
            <a:pPr>
              <a:defRPr sz="1800"/>
            </a:pPr>
            <a:r>
              <a:t>• TF-IDF vs Linguistic: χ² = 31.07, p &lt; 0.001 ***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Conclusion: All pairwise differences are HIGHLY SIGNIFICANT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Bootstrap 95% Confidence Intervals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95% CI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92.73%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[92.02%, 93.42%]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86.40%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[85.50%, 87.22%]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Linguistic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82.85%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[81.78%, 83.94%]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Agreement (Cohen's Kappa)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Cohen's Kappa measures inter-rater reliability: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Model agreement results:</a:t>
            </a:r>
          </a:p>
          <a:p>
            <a:pPr>
              <a:defRPr sz="1800"/>
            </a:pPr>
            <a:r>
              <a:t>• TF-IDF ↔ BERT: κ = 0.827 (substantial)</a:t>
            </a:r>
          </a:p>
          <a:p>
            <a:pPr>
              <a:defRPr sz="1800"/>
            </a:pPr>
            <a:r>
              <a:t>• Linguistic ↔ BERT: κ = 0.752 (substantial)</a:t>
            </a:r>
          </a:p>
          <a:p>
            <a:pPr>
              <a:defRPr sz="1800"/>
            </a:pPr>
            <a:r>
              <a:t>• TF-IDF ↔ Linguistic: κ = 0.728 (substantial)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Interpretation (Landis-Koch scale):</a:t>
            </a:r>
          </a:p>
          <a:p>
            <a:pPr>
              <a:defRPr sz="1800"/>
            </a:pPr>
            <a:r>
              <a:t>→ κ = 0.61-0.80: Substantial agreement</a:t>
            </a:r>
          </a:p>
          <a:p>
            <a:pPr>
              <a:defRPr sz="1800"/>
            </a:pPr>
            <a:r>
              <a:t>→ All models capture the same underlying signal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Analyzed 5,000 test samples across all three models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Model agreement:</a:t>
            </a:r>
          </a:p>
          <a:p>
            <a:pPr>
              <a:defRPr sz="1800"/>
            </a:pPr>
            <a:r>
              <a:t>• All three models agree: 73.4%</a:t>
            </a:r>
          </a:p>
          <a:p>
            <a:pPr>
              <a:defRPr sz="1800"/>
            </a:pPr>
            <a:r>
              <a:t>• When all agree → 98.4% accuracy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Hybrid articles: 27.8% (1,390/5,000)</a:t>
            </a:r>
          </a:p>
          <a:p>
            <a:pPr>
              <a:defRPr sz="1800"/>
            </a:pPr>
            <a:r>
              <a:t>→ Boundary cases where genre is genuinely ambiguous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as 'Hub Genre'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Feature attracts confusion from all genres: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Top BERT confusions:</a:t>
            </a:r>
          </a:p>
          <a:p>
            <a:pPr>
              <a:defRPr sz="1800"/>
            </a:pPr>
            <a:r>
              <a:t>• Analytical → Feature: 11.5%</a:t>
            </a:r>
          </a:p>
          <a:p>
            <a:pPr>
              <a:defRPr sz="1800"/>
            </a:pPr>
            <a:r>
              <a:t>• News → Feature: 5.4%</a:t>
            </a:r>
          </a:p>
          <a:p>
            <a:pPr>
              <a:defRPr sz="1800"/>
            </a:pPr>
            <a:r>
              <a:t>• Review → Feature: 4.2%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Feature occupies a middle ground: narrative + informative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Evidence for Gradient Genre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All three wrong</a:t>
            </a:r>
          </a:p>
          <a:p>
            <a:pPr>
              <a:defRPr sz="1400"/>
            </a:pPr>
            <a:r>
              <a:t>105 articles (2.1%)</a:t>
            </a:r>
          </a:p>
          <a:p>
            <a:pPr>
              <a:defRPr sz="1400"/>
            </a:pPr>
            <a:r>
              <a:t>Genuinely ambiguous</a:t>
            </a:r>
          </a:p>
          <a:p>
            <a:pPr>
              <a:defRPr sz="1400"/>
            </a:pPr>
            <a:r>
              <a:t>No clear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Model disagreement</a:t>
            </a:r>
          </a:p>
          <a:p>
            <a:pPr>
              <a:defRPr sz="1400"/>
            </a:pPr>
            <a:r>
              <a:t>1,390 articles (27.8%)</a:t>
            </a:r>
          </a:p>
          <a:p>
            <a:pPr>
              <a:defRPr sz="1400"/>
            </a:pPr>
            <a:r>
              <a:t>Boundary cases</a:t>
            </a:r>
          </a:p>
          <a:p>
            <a:pPr>
              <a:defRPr sz="1400"/>
            </a:pPr>
            <a:r>
              <a:t>Linguistic overlap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Interpreting BERT via Attention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Extracted attention weights from last 6 layers of BERT</a:t>
            </a:r>
          </a:p>
          <a:p>
            <a:pPr>
              <a:defRPr sz="1800"/>
            </a:pPr>
            <a:r>
              <a:t>Analyzed 50 texts (10 × 5 genres)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Research question: What tokens does BERT attend to for genre?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Genre-Specific Attention Markers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2192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Genre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Top-3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Interpretation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Analytical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boris, johnson, downing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Politics, names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Editorial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mr, nhs, 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Institutions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i, my, said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Narrative, personal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trump, masters,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Events, facts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staging, debut, opera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Culture, arts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Universal Markers Across All Genres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Common high-attention tokens:</a:t>
            </a:r>
          </a:p>
          <a:p>
            <a:pPr>
              <a:defRPr sz="1800"/>
            </a:pPr>
            <a:r>
              <a:t>• 'we', 'related', 'sp' (function words)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insight:</a:t>
            </a:r>
          </a:p>
          <a:p>
            <a:pPr>
              <a:defRPr sz="1800"/>
            </a:pPr>
            <a:r>
              <a:t>→ No unique vocabulary for any genre</a:t>
            </a:r>
          </a:p>
          <a:p>
            <a:pPr>
              <a:defRPr sz="1800"/>
            </a:pPr>
            <a:r>
              <a:t>→ Overlapping token distributions</a:t>
            </a:r>
          </a:p>
          <a:p>
            <a:pPr>
              <a:defRPr sz="1800"/>
            </a:pPr>
            <a:r>
              <a:t>→ Explains gradient boundaries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Genres blend into each other; boundaries are permeable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Theoretical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1. Genre as gradient, not discrete</a:t>
            </a:r>
          </a:p>
          <a:p>
            <a:pPr>
              <a:defRPr sz="1800"/>
            </a:pPr>
            <a:r>
              <a:t>   → Empirical evidence from model disagreement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Lexical primacy in genre classification</a:t>
            </a:r>
          </a:p>
          <a:p>
            <a:pPr>
              <a:defRPr sz="1800"/>
            </a:pPr>
            <a:r>
              <a:t>   → Word choice outweighs syntax and context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3. Model disagreement as uncertainty metric</a:t>
            </a:r>
          </a:p>
          <a:p>
            <a:pPr>
              <a:defRPr sz="1800"/>
            </a:pPr>
            <a:r>
              <a:t>   → Flagging ambiguous cases for human review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Model Rankings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Level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🥇 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87.64%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Contextual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🥈 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86.58%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Lexical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🥉 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Linguistic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Syntactic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Hypothesis Testing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46304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Evidence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H1: Contextual &gt; Lexical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⚠️ 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BERT +1.06% over TF-IDF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H2: Gradient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27.8% hybrid articles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H3: Lexical primacy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TF-IDF ≈ BERT (99% signal)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H4: Syntax &lt; Lexical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65% vs 87%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Main contributions: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1. Empirical evidence for gradient genre boundaries</a:t>
            </a:r>
          </a:p>
          <a:p>
            <a:pPr>
              <a:defRPr sz="1800"/>
            </a:pPr>
            <a:r>
              <a:t>2. Demonstration of lexical primacy (99% of signal)</a:t>
            </a:r>
          </a:p>
          <a:p>
            <a:pPr>
              <a:defRPr sz="1800"/>
            </a:pPr>
            <a:r>
              <a:t>3. Model disagreement as uncertainty metric</a:t>
            </a:r>
          </a:p>
          <a:p>
            <a:pPr>
              <a:defRPr sz="1800"/>
            </a:pPr>
            <a:r>
              <a:t>4. Attention analysis reveals genre-specific markers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Practical impact:</a:t>
            </a:r>
          </a:p>
          <a:p>
            <a:pPr>
              <a:defRPr sz="1800"/>
            </a:pPr>
            <a:r>
              <a:t>→ TF-IDF sufficient for genre classification</a:t>
            </a:r>
          </a:p>
          <a:p>
            <a:pPr>
              <a:defRPr sz="1800"/>
            </a:pPr>
            <a:r>
              <a:t>→ Model agreement flags ambiguous cases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 (Phase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Statistical validation:</a:t>
            </a:r>
          </a:p>
          <a:p>
            <a:pPr>
              <a:defRPr sz="1800"/>
            </a:pPr>
            <a:r>
              <a:t>• McNemar's test for model comparison</a:t>
            </a:r>
          </a:p>
          <a:p>
            <a:pPr>
              <a:defRPr sz="1800"/>
            </a:pPr>
            <a:r>
              <a:t>• Bootstrap confidence intervals</a:t>
            </a:r>
          </a:p>
          <a:p>
            <a:pPr>
              <a:defRPr sz="1800"/>
            </a:pPr>
            <a:r>
              <a:t>• Inter-annotator agreement (Cohen's Kappa)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Extensions:</a:t>
            </a:r>
          </a:p>
          <a:p>
            <a:pPr>
              <a:defRPr sz="1800"/>
            </a:pPr>
            <a:r>
              <a:t>• Apply to other languages/datasets</a:t>
            </a:r>
          </a:p>
          <a:p>
            <a:pPr>
              <a:defRPr sz="1800"/>
            </a:pPr>
            <a:r>
              <a:t>• Investigate cross-domain genre differences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  <a:p/>
          <a:p>
            <a:r>
              <a:t>Dialogue 2026</a:t>
            </a:r>
          </a:p>
          <a:p>
            <a:r>
              <a:t>January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